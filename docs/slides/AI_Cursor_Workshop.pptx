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2C3E50"/>
                </a:solidFill>
                <a:latin typeface="Arial"/>
              </a:defRPr>
            </a:pPr>
            <a:r>
              <a:rPr lang="ru-RU" sz="1600" b="0" i="0" u="none" strike="noStrike">
                <a:solidFill>
                  <a:srgbClr val="2C3E50"/>
                </a:solidFill>
                <a:latin typeface="Arial"/>
              </a:rPr>
              <a:t>Рост стоимости с длиной диалога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Стоимость</c:v>
                </c:pt>
              </c:strCache>
            </c:strRef>
          </c:tx>
          <c:spPr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 msg</c:v>
                </c:pt>
                <c:pt idx="1">
                  <c:v>5 msg</c:v>
                </c:pt>
                <c:pt idx="2">
                  <c:v>10 msg</c:v>
                </c:pt>
                <c:pt idx="3">
                  <c:v>20 msg</c:v>
                </c:pt>
                <c:pt idx="4">
                  <c:v>50 msg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35</c:v>
                </c:pt>
                <c:pt idx="2">
                  <c:v>75</c:v>
                </c:pt>
                <c:pt idx="3">
                  <c:v>160</c:v>
                </c:pt>
                <c:pt idx="4">
                  <c:v>450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1C2-4803-B8DC-E0C4DEF001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3E50"/>
                </a:solidFill>
                <a:latin typeface="Arial"/>
              </a:defRPr>
            </a:pPr>
            <a:r>
              <a:rPr lang="ru-RU" sz="1400" b="0" i="0" u="none" strike="noStrike">
                <a:solidFill>
                  <a:srgbClr val="2C3E50"/>
                </a:solidFill>
                <a:latin typeface="Arial"/>
              </a:rPr>
              <a:t>Внимание модели к разным частям промпта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6.021537748957851E-2"/>
          <c:y val="0.18452532407248218"/>
          <c:w val="0.92181076630127112"/>
          <c:h val="0.6814771516005914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Внимание</c:v>
                </c:pt>
              </c:strCache>
            </c:strRef>
          </c:tx>
          <c:spPr>
            <a:ln w="38100" cap="flat">
              <a:solidFill>
                <a:srgbClr val="FF6B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6B6B"/>
              </a:solidFill>
              <a:ln w="9525" cap="flat">
                <a:solidFill>
                  <a:srgbClr val="FF6B6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Начало</c:v>
                </c:pt>
                <c:pt idx="1">
                  <c:v>25%</c:v>
                </c:pt>
                <c:pt idx="2">
                  <c:v>Середина</c:v>
                </c:pt>
                <c:pt idx="3">
                  <c:v>75%</c:v>
                </c:pt>
                <c:pt idx="4">
                  <c:v>Конец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70</c:v>
                </c:pt>
                <c:pt idx="2">
                  <c:v>40</c:v>
                </c:pt>
                <c:pt idx="3">
                  <c:v>70</c:v>
                </c:pt>
                <c:pt idx="4">
                  <c:v>95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E2A-4207-98A2-B424B2B8CA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945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chart" Target="../charts/char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AI + Cursor для разработчиков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</a:rPr>
              <a:t>Практический воркшоп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5F5F5"/>
                </a:solidFill>
              </a:rPr>
              <a:t>Быстрее • Качественнее • Экономнее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Для кого и зачем этот воркшоп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143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50"/>
                </a:solidFill>
              </a:rPr>
              <a:t>Команда разработки целиком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280160" y="153619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Бэкенд, фронтенд, дизайн, DevOps — всё можно выразить через текст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1973580"/>
            <a:ext cx="7772400" cy="2442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2">
                    <a:lumMod val="25000"/>
                  </a:schemeClr>
                </a:solidFill>
              </a:rPr>
              <a:t>Типичные боли: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Нейронка выдает плохой код, мой стек знает слабо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Нейронка плохо понимает, что от нее нужно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Нейронка решает задачи дорого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«Я сам сделаю быстрее и лучше»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</a:rPr>
              <a:t>Не хочу «черный ящик» </a:t>
            </a:r>
            <a:r>
              <a:rPr lang="en-US" sz="1300" dirty="0" err="1">
                <a:solidFill>
                  <a:srgbClr val="64748B"/>
                </a:solidFill>
              </a:rPr>
              <a:t>без</a:t>
            </a:r>
            <a:r>
              <a:rPr lang="en-US" sz="1300" dirty="0">
                <a:solidFill>
                  <a:srgbClr val="64748B"/>
                </a:solidFill>
              </a:rPr>
              <a:t> </a:t>
            </a:r>
            <a:r>
              <a:rPr lang="en-US" sz="1300" dirty="0" err="1">
                <a:solidFill>
                  <a:srgbClr val="64748B"/>
                </a:solidFill>
              </a:rPr>
              <a:t>понимания</a:t>
            </a:r>
            <a:endParaRPr lang="en-US" sz="1300" dirty="0">
              <a:solidFill>
                <a:srgbClr val="64748B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1300" dirty="0">
              <a:solidFill>
                <a:srgbClr val="64748B"/>
              </a:solidFill>
            </a:endParaRPr>
          </a:p>
          <a:p>
            <a:pPr>
              <a:buSzPct val="100000"/>
            </a:pPr>
            <a:r>
              <a:rPr lang="ru-RU" sz="1600" b="1" dirty="0">
                <a:solidFill>
                  <a:schemeClr val="bg2">
                    <a:lumMod val="25000"/>
                  </a:schemeClr>
                </a:solidFill>
              </a:rPr>
              <a:t>Что мы хотим: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rgbClr val="64748B"/>
                </a:solidFill>
              </a:rPr>
              <a:t>Увеличить скорость разработки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rgbClr val="64748B"/>
                </a:solidFill>
              </a:rPr>
              <a:t>Повысить качество кода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rgbClr val="64748B"/>
                </a:solidFill>
              </a:rPr>
              <a:t>Снизить потребление токенов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4BAC469F-540F-7C1C-230B-887E7571BC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91" t="3318" r="22222" b="3677"/>
          <a:stretch>
            <a:fillRect/>
          </a:stretch>
        </p:blipFill>
        <p:spPr bwMode="auto">
          <a:xfrm>
            <a:off x="5239172" y="1977814"/>
            <a:ext cx="3264748" cy="3061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Главная идея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109728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1887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ИИ — это инструмент.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Умелые руки решают всё.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689012"/>
            <a:ext cx="7315200" cy="21801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C3E50"/>
                </a:solidFill>
              </a:rPr>
              <a:t>Раньше</a:t>
            </a:r>
            <a:r>
              <a:rPr lang="en-US" sz="1500" b="1" dirty="0">
                <a:solidFill>
                  <a:srgbClr val="2C3E50"/>
                </a:solidFill>
              </a:rPr>
              <a:t>: </a:t>
            </a:r>
            <a:r>
              <a:rPr lang="en-US" sz="1500" dirty="0">
                <a:solidFill>
                  <a:srgbClr val="2C3E50"/>
                </a:solidFill>
              </a:rPr>
              <a:t>Чертежник вручную чертил на кульмане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</a:rPr>
              <a:t>Сегодня: </a:t>
            </a:r>
            <a:r>
              <a:rPr lang="en-US" sz="1500" dirty="0">
                <a:solidFill>
                  <a:srgbClr val="2C3E50"/>
                </a:solidFill>
              </a:rPr>
              <a:t>Инженер сам чертит в AutoCAD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</a:rPr>
              <a:t>Аналогия: </a:t>
            </a:r>
            <a:r>
              <a:rPr lang="en-US" sz="1500" dirty="0">
                <a:solidFill>
                  <a:srgbClr val="2C3E50"/>
                </a:solidFill>
              </a:rPr>
              <a:t>«Кодер» уходит → приходит архитектор/</a:t>
            </a:r>
            <a:r>
              <a:rPr lang="en-US" sz="1500" dirty="0" err="1">
                <a:solidFill>
                  <a:srgbClr val="2C3E50"/>
                </a:solidFill>
              </a:rPr>
              <a:t>оператор</a:t>
            </a:r>
            <a:r>
              <a:rPr lang="en-US" sz="1500" dirty="0">
                <a:solidFill>
                  <a:srgbClr val="2C3E50"/>
                </a:solidFill>
              </a:rPr>
              <a:t> AI</a:t>
            </a:r>
            <a:endParaRPr lang="ru-RU" sz="1500" dirty="0">
              <a:solidFill>
                <a:srgbClr val="2C3E50"/>
              </a:solidFill>
            </a:endParaRPr>
          </a:p>
          <a:p>
            <a:pPr marL="0" indent="0">
              <a:buNone/>
            </a:pPr>
            <a:endParaRPr lang="ru-RU" sz="1500" dirty="0">
              <a:solidFill>
                <a:srgbClr val="2C3E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rgbClr val="2C3E50"/>
                </a:solidFill>
              </a:rPr>
              <a:t>Не использовать ИИ не получиться, особенно в нашей профессии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rgbClr val="2C3E50"/>
                </a:solidFill>
              </a:rPr>
              <a:t>Основная ценность сейчас не в набирании кода, а в проектировании систем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rgbClr val="2C3E50"/>
                </a:solidFill>
              </a:rPr>
              <a:t>Каждый из нас становиться руководителем. Нужно грамотно формулировать задачи и требования.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Как думает модель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234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E50"/>
                </a:solidFill>
              </a:rPr>
              <a:t>Простая метафора: T9 на стероидах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0080" y="210312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</a:rPr>
              <a:t>Модель не «думает» — она продолжает текст так, чтобы он выглядел правдоподобно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Предсказание следующего токена, а не поиск истины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Хороший результат = хороший контекст + хорошая формулировка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828800" y="4114800"/>
            <a:ext cx="548640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4"/>
          <p:cNvSpPr/>
          <p:nvPr/>
        </p:nvSpPr>
        <p:spPr>
          <a:xfrm>
            <a:off x="1828800" y="4114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"Привет" → "как" → "дела" → "?"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Как модель видит диалог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Для модели это последовательность токенов с ролями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6400800" cy="2286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182880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&lt;User&gt;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Напиши функцию сортировки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&lt;/User&gt;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&lt;Assistant&gt;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Вот пример на Python...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&lt;/Assistant&gt;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Роли — это просто часть текста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Один вопрос в разном контексте → разный ответ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Чем длиннее диалог, тем он дороже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В РЕСТОРАНЕ «СОЮЗ ТРУДА И КАПИТАЛА» — Этот господин уплатит за всё! 1964 г.  Бор. Ефимов 2026 | ВКонтакте">
            <a:extLst>
              <a:ext uri="{FF2B5EF4-FFF2-40B4-BE49-F238E27FC236}">
                <a16:creationId xmlns:a16="http://schemas.microsoft.com/office/drawing/2014/main" id="{F6C5A07E-9685-1273-766B-9E2DB262F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6" y="2079413"/>
            <a:ext cx="2955180" cy="1994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Контекст и ограничения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1188720"/>
            <a:ext cx="731520" cy="7315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188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Окно контекста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Переполнение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79413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3227" y="2079413"/>
            <a:ext cx="4861246" cy="19947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«Больше» ≠ «лучше»: шум снижает качество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Резюме и выжимка полезнее полного лога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«Опиши коротко» — ваш </a:t>
            </a:r>
            <a:r>
              <a:rPr lang="en-US" sz="1500" dirty="0" err="1">
                <a:solidFill>
                  <a:srgbClr val="2C3E50"/>
                </a:solidFill>
              </a:rPr>
              <a:t>лучший</a:t>
            </a:r>
            <a:r>
              <a:rPr lang="en-US" sz="1500" dirty="0">
                <a:solidFill>
                  <a:srgbClr val="2C3E50"/>
                </a:solidFill>
              </a:rPr>
              <a:t> </a:t>
            </a:r>
            <a:r>
              <a:rPr lang="en-US" sz="1500" dirty="0" err="1">
                <a:solidFill>
                  <a:srgbClr val="2C3E50"/>
                </a:solidFill>
              </a:rPr>
              <a:t>друг</a:t>
            </a:r>
            <a:endParaRPr lang="ru-RU" sz="1500" dirty="0">
              <a:solidFill>
                <a:srgbClr val="2C3E50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ru-RU" sz="1500" dirty="0">
                <a:solidFill>
                  <a:srgbClr val="2C3E50"/>
                </a:solidFill>
              </a:rPr>
              <a:t>Не имеет смысла упаковывать весь контекст в одного агента</a:t>
            </a:r>
          </a:p>
          <a:p>
            <a:pPr marL="342900" indent="-342900">
              <a:buSzPct val="100000"/>
              <a:buChar char="•"/>
            </a:pPr>
            <a:r>
              <a:rPr lang="ru-RU" sz="1500" dirty="0">
                <a:solidFill>
                  <a:srgbClr val="2C3E50"/>
                </a:solidFill>
              </a:rPr>
              <a:t>Модель распылится и съест все токены, однако результат будет хуже</a:t>
            </a:r>
          </a:p>
          <a:p>
            <a:pPr marL="342900" indent="-342900">
              <a:buSzPct val="100000"/>
              <a:buChar char="•"/>
            </a:pPr>
            <a:r>
              <a:rPr lang="ru-RU" sz="1500" dirty="0">
                <a:solidFill>
                  <a:srgbClr val="2C3E50"/>
                </a:solidFill>
              </a:rPr>
              <a:t>Современные модели умеет поверхностно читать файлы. Док стринги ваш друг</a:t>
            </a:r>
          </a:p>
        </p:txBody>
      </p:sp>
      <p:sp>
        <p:nvSpPr>
          <p:cNvPr id="9" name="Shape 6"/>
          <p:cNvSpPr/>
          <p:nvPr/>
        </p:nvSpPr>
        <p:spPr>
          <a:xfrm>
            <a:off x="1828800" y="4320540"/>
            <a:ext cx="5486400" cy="54864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828800" y="43205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</a:rPr>
              <a:t>Контекст ограничен — избыток мешает и удорожает</a:t>
            </a:r>
            <a:endParaRPr lang="en-US" sz="16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EB8F308-2BEC-6275-B7A1-A27314519079}"/>
              </a:ext>
            </a:extLst>
          </p:cNvPr>
          <p:cNvSpPr/>
          <p:nvPr/>
        </p:nvSpPr>
        <p:spPr>
          <a:xfrm>
            <a:off x="5385490" y="4031826"/>
            <a:ext cx="4358640" cy="201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000" b="1" dirty="0">
                <a:solidFill>
                  <a:srgbClr val="2C3E50"/>
                </a:solidFill>
              </a:rPr>
              <a:t>Оператор грузит весь проект в одного агента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83E0B3BD-AA9A-BDCA-2C3D-881EA52A4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800" y="1686560"/>
            <a:ext cx="2885440" cy="1722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Почему улетают лимиты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2918204226"/>
              </p:ext>
            </p:extLst>
          </p:nvPr>
        </p:nvGraphicFramePr>
        <p:xfrm>
          <a:off x="640080" y="1188720"/>
          <a:ext cx="77724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931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Длинный контекст, лишние файлы, много итераций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Цена растет вместе с длиной диалога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Решение: короткие итерации и фокус </a:t>
            </a:r>
            <a:r>
              <a:rPr lang="en-US" sz="1400" dirty="0" err="1">
                <a:solidFill>
                  <a:srgbClr val="2C3E50"/>
                </a:solidFill>
              </a:rPr>
              <a:t>на</a:t>
            </a:r>
            <a:r>
              <a:rPr lang="en-US" sz="1400" dirty="0">
                <a:solidFill>
                  <a:srgbClr val="2C3E50"/>
                </a:solidFill>
              </a:rPr>
              <a:t> </a:t>
            </a:r>
            <a:r>
              <a:rPr lang="en-US" sz="1400" dirty="0" err="1">
                <a:solidFill>
                  <a:srgbClr val="2C3E50"/>
                </a:solidFill>
              </a:rPr>
              <a:t>задаче</a:t>
            </a:r>
            <a:endParaRPr lang="ru-RU" sz="1400" dirty="0">
              <a:solidFill>
                <a:srgbClr val="2C3E50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ru-RU" sz="1400" dirty="0">
                <a:solidFill>
                  <a:srgbClr val="2C3E50"/>
                </a:solidFill>
              </a:rPr>
              <a:t>Лучше один четкий запрос и короткая итерация, чем пять “на ощупь”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Ценообразование на пальцах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8686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914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E50"/>
                </a:solidFill>
              </a:rPr>
              <a:t>Формула: Токены = Стоимость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658227"/>
              </p:ext>
            </p:extLst>
          </p:nvPr>
        </p:nvGraphicFramePr>
        <p:xfrm>
          <a:off x="894080" y="1465155"/>
          <a:ext cx="7315200" cy="10058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Тип токенов</a:t>
                      </a:r>
                      <a:endParaRPr lang="en-US" sz="1050" dirty="0"/>
                    </a:p>
                  </a:txBody>
                  <a:tcPr marL="45720" marR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Цена</a:t>
                      </a:r>
                      <a:endParaRPr lang="en-US" sz="1050" dirty="0"/>
                    </a:p>
                  </a:txBody>
                  <a:tcPr marL="45720" marR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Примечание</a:t>
                      </a:r>
                      <a:endParaRPr lang="en-US" sz="1050" dirty="0"/>
                    </a:p>
                  </a:txBody>
                  <a:tcPr marL="45720" marR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Входные</a:t>
                      </a:r>
                      <a:endParaRPr lang="en-US" sz="1050" dirty="0"/>
                    </a:p>
                  </a:txBody>
                  <a:tcPr marL="45720" marR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$$</a:t>
                      </a:r>
                      <a:endParaRPr lang="en-US" sz="1050" dirty="0"/>
                    </a:p>
                  </a:txBody>
                  <a:tcPr marL="45720" marR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Контекст + </a:t>
                      </a:r>
                      <a:r>
                        <a:rPr lang="en-US" sz="1050" dirty="0" err="1">
                          <a:solidFill>
                            <a:srgbClr val="2C3E50"/>
                          </a:solidFill>
                        </a:rPr>
                        <a:t>запрос</a:t>
                      </a:r>
                      <a:r>
                        <a:rPr lang="ru-RU" sz="1050" dirty="0">
                          <a:solidFill>
                            <a:srgbClr val="2C3E50"/>
                          </a:solidFill>
                        </a:rPr>
                        <a:t> </a:t>
                      </a:r>
                      <a:endParaRPr lang="en-US" sz="1050" dirty="0"/>
                    </a:p>
                  </a:txBody>
                  <a:tcPr marL="45720" marR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Выходные</a:t>
                      </a:r>
                      <a:endParaRPr lang="en-US" sz="1050" dirty="0"/>
                    </a:p>
                  </a:txBody>
                  <a:tcPr marL="45720" marR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$$$</a:t>
                      </a:r>
                      <a:endParaRPr lang="en-US" sz="1050" dirty="0"/>
                    </a:p>
                  </a:txBody>
                  <a:tcPr marL="45720" marR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Ответ модели</a:t>
                      </a:r>
                      <a:endParaRPr lang="en-US" sz="1050" dirty="0"/>
                    </a:p>
                  </a:txBody>
                  <a:tcPr marL="45720" marR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Кэшированные</a:t>
                      </a:r>
                      <a:endParaRPr lang="en-US" sz="1050" dirty="0"/>
                    </a:p>
                  </a:txBody>
                  <a:tcPr marL="45720" marR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$</a:t>
                      </a:r>
                      <a:endParaRPr lang="en-US" sz="1050" dirty="0"/>
                    </a:p>
                  </a:txBody>
                  <a:tcPr marL="45720" marR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Повторный контекст</a:t>
                      </a:r>
                      <a:endParaRPr lang="en-US" sz="1050" dirty="0"/>
                    </a:p>
                  </a:txBody>
                  <a:tcPr marL="45720" marR="45720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894080" y="4434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Входные и выходные токены имеют разную цену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Кэшированные токены дешевле (при повторах)</a:t>
            </a:r>
            <a:endParaRPr lang="en-US" sz="1400" dirty="0"/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50A2B6E9-5F07-CCD1-BCF9-59006106BE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391699"/>
              </p:ext>
            </p:extLst>
          </p:nvPr>
        </p:nvGraphicFramePr>
        <p:xfrm>
          <a:off x="894080" y="2518830"/>
          <a:ext cx="7315200" cy="1986915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051581">
                  <a:extLst>
                    <a:ext uri="{9D8B030D-6E8A-4147-A177-3AD203B41FA5}">
                      <a16:colId xmlns:a16="http://schemas.microsoft.com/office/drawing/2014/main" val="829765753"/>
                    </a:ext>
                  </a:extLst>
                </a:gridCol>
                <a:gridCol w="891058">
                  <a:extLst>
                    <a:ext uri="{9D8B030D-6E8A-4147-A177-3AD203B41FA5}">
                      <a16:colId xmlns:a16="http://schemas.microsoft.com/office/drawing/2014/main" val="4123633799"/>
                    </a:ext>
                  </a:extLst>
                </a:gridCol>
                <a:gridCol w="1173094">
                  <a:extLst>
                    <a:ext uri="{9D8B030D-6E8A-4147-A177-3AD203B41FA5}">
                      <a16:colId xmlns:a16="http://schemas.microsoft.com/office/drawing/2014/main" val="3336696218"/>
                    </a:ext>
                  </a:extLst>
                </a:gridCol>
                <a:gridCol w="873760">
                  <a:extLst>
                    <a:ext uri="{9D8B030D-6E8A-4147-A177-3AD203B41FA5}">
                      <a16:colId xmlns:a16="http://schemas.microsoft.com/office/drawing/2014/main" val="2955867003"/>
                    </a:ext>
                  </a:extLst>
                </a:gridCol>
                <a:gridCol w="819574">
                  <a:extLst>
                    <a:ext uri="{9D8B030D-6E8A-4147-A177-3AD203B41FA5}">
                      <a16:colId xmlns:a16="http://schemas.microsoft.com/office/drawing/2014/main" val="3036409606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77042230"/>
                    </a:ext>
                  </a:extLst>
                </a:gridCol>
                <a:gridCol w="1794933">
                  <a:extLst>
                    <a:ext uri="{9D8B030D-6E8A-4147-A177-3AD203B41FA5}">
                      <a16:colId xmlns:a16="http://schemas.microsoft.com/office/drawing/2014/main" val="1712379096"/>
                    </a:ext>
                  </a:extLst>
                </a:gridCol>
              </a:tblGrid>
              <a:tr h="1199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Date</a:t>
                      </a:r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Model</a:t>
                      </a:r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Input (w/o Cache Write)</a:t>
                      </a:r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Cache Read</a:t>
                      </a:r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Output Tokens</a:t>
                      </a:r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 Tokens</a:t>
                      </a:r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Cost</a:t>
                      </a:r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16765904"/>
                  </a:ext>
                </a:extLst>
              </a:tr>
              <a:tr h="1199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05.02.2026 13:20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gpt-5.2-codex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87371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723456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7030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817857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0.380</a:t>
                      </a:r>
                      <a:endParaRPr lang="ru-RU" sz="8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86211911"/>
                  </a:ext>
                </a:extLst>
              </a:tr>
              <a:tr h="1199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05.02.2026 13:12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gpt-5.2-codex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37541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12544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1471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51556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0.090</a:t>
                      </a:r>
                      <a:endParaRPr lang="ru-RU" sz="8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11744649"/>
                  </a:ext>
                </a:extLst>
              </a:tr>
              <a:tr h="1199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05.02.2026 12:56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gpt-5.2-codex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11016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252288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1689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264993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1" u="none" strike="noStrike">
                          <a:solidFill>
                            <a:schemeClr val="tx1"/>
                          </a:solidFill>
                          <a:effectLst/>
                        </a:rPr>
                        <a:t>0.090</a:t>
                      </a:r>
                      <a:endParaRPr lang="ru-RU" sz="800" b="1" i="0" u="none" strike="noStrike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16109893"/>
                  </a:ext>
                </a:extLst>
              </a:tr>
              <a:tr h="1199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05.02.2026 12:49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gpt-5.2-codex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19179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37376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556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57111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0.050</a:t>
                      </a:r>
                      <a:endParaRPr lang="ru-RU" sz="8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07055521"/>
                  </a:ext>
                </a:extLst>
              </a:tr>
              <a:tr h="1199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05.02.2026 12:46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gpt-5.2-codex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18372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182528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951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201851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0.080</a:t>
                      </a:r>
                      <a:endParaRPr lang="ru-RU" sz="8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28906466"/>
                  </a:ext>
                </a:extLst>
              </a:tr>
              <a:tr h="1199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05.02.2026 12:32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gpt-5.2-codex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54997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261120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3964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320081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0.200</a:t>
                      </a:r>
                      <a:endParaRPr lang="ru-RU" sz="8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34677353"/>
                  </a:ext>
                </a:extLst>
              </a:tr>
              <a:tr h="1199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05.02.2026 12:25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gpt-5.2-codex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32920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44672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1680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79272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0.900</a:t>
                      </a:r>
                      <a:endParaRPr lang="ru-RU" sz="8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35612828"/>
                  </a:ext>
                </a:extLst>
              </a:tr>
              <a:tr h="1199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05.02.2026 12:09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gpt-5.2-codex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44185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207744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1070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252999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0.130</a:t>
                      </a:r>
                      <a:endParaRPr lang="ru-RU" sz="8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9696729"/>
                  </a:ext>
                </a:extLst>
              </a:tr>
              <a:tr h="1199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05.02.2026 12:01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gpt-5.2-codex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56873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148992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3770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209635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0.180</a:t>
                      </a:r>
                      <a:endParaRPr lang="ru-RU" sz="8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62553751"/>
                  </a:ext>
                </a:extLst>
              </a:tr>
              <a:tr h="1199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05.02.2026 11:57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gpt-5.2-codex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179227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8531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187758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0.080</a:t>
                      </a:r>
                      <a:endParaRPr lang="ru-RU" sz="8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47069509"/>
                  </a:ext>
                </a:extLst>
              </a:tr>
              <a:tr h="1199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05.02.2026 11:56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gpt-5.2-codex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15814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143360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2848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162022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0.090</a:t>
                      </a:r>
                      <a:endParaRPr lang="ru-RU" sz="8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49112449"/>
                  </a:ext>
                </a:extLst>
              </a:tr>
              <a:tr h="1199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05.02.2026 10:59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gpt-5.2-codex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65622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4736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3134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73492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0.160</a:t>
                      </a:r>
                      <a:endParaRPr lang="ru-RU" sz="8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98915873"/>
                  </a:ext>
                </a:extLst>
              </a:tr>
              <a:tr h="11993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05.02.2026 10:59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gpt-5.2-codex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433069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3366912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13107</a:t>
                      </a:r>
                      <a:endParaRPr lang="ru-RU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3813088</a:t>
                      </a:r>
                      <a:endParaRPr lang="ru-RU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1.530</a:t>
                      </a:r>
                      <a:endParaRPr lang="ru-RU" sz="8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20876262"/>
                  </a:ext>
                </a:extLst>
              </a:tr>
              <a:tr h="1199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ru-RU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900" b="1" u="none" strike="noStrike">
                          <a:solidFill>
                            <a:srgbClr val="000000"/>
                          </a:solidFill>
                          <a:effectLst/>
                        </a:rPr>
                        <a:t>1056186</a:t>
                      </a:r>
                      <a:endParaRPr lang="ru-RU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900" b="1" u="none" strike="noStrike">
                          <a:solidFill>
                            <a:srgbClr val="000000"/>
                          </a:solidFill>
                          <a:effectLst/>
                        </a:rPr>
                        <a:t>5385728</a:t>
                      </a:r>
                      <a:endParaRPr lang="ru-RU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900" b="1" u="none" strike="noStrike">
                          <a:solidFill>
                            <a:srgbClr val="000000"/>
                          </a:solidFill>
                          <a:effectLst/>
                        </a:rPr>
                        <a:t>49801</a:t>
                      </a:r>
                      <a:endParaRPr lang="ru-RU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900" b="1" u="none" strike="noStrike">
                          <a:solidFill>
                            <a:srgbClr val="000000"/>
                          </a:solidFill>
                          <a:effectLst/>
                        </a:rPr>
                        <a:t>6491715</a:t>
                      </a:r>
                      <a:endParaRPr lang="ru-RU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9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3.96</a:t>
                      </a:r>
                      <a:endParaRPr lang="ru-RU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137244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Как диалог влияет на стоимость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97280" y="1371600"/>
            <a:ext cx="1188720" cy="73152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371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Msg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10₽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0" y="1371600"/>
            <a:ext cx="1188720" cy="731520"/>
          </a:xfrm>
          <a:prstGeom prst="rect">
            <a:avLst/>
          </a:prstGeom>
          <a:solidFill>
            <a:srgbClr val="00A89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0" y="1371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Msg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25₽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23360" y="1371600"/>
            <a:ext cx="1188720" cy="731520"/>
          </a:xfrm>
          <a:prstGeom prst="rect">
            <a:avLst/>
          </a:prstGeom>
          <a:solidFill>
            <a:srgbClr val="00A89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023360" y="1371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Msg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45₽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0" y="1371600"/>
            <a:ext cx="1188720" cy="73152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0" y="1371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Msg 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70₽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1371600"/>
            <a:ext cx="1188720" cy="73152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49440" y="13716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Msg 5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100₽</a:t>
            </a:r>
            <a:endParaRPr lang="en-US" sz="13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88720" y="2651760"/>
            <a:ext cx="443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Каждый новый запрос включает всю историю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Чем длиннее история, тем дороже даже короткий ответ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Исключения: кэш и summarize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015067" y="4320540"/>
            <a:ext cx="5486400" cy="548640"/>
          </a:xfrm>
          <a:prstGeom prst="rect">
            <a:avLst/>
          </a:prstGeom>
          <a:solidFill>
            <a:srgbClr val="FFC107">
              <a:alpha val="8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2015067" y="43205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</a:rPr>
              <a:t>Длинный диалог = дороже каждое сообщение</a:t>
            </a:r>
            <a:endParaRPr lang="en-US" sz="1600" dirty="0"/>
          </a:p>
        </p:txBody>
      </p:sp>
      <p:pic>
        <p:nvPicPr>
          <p:cNvPr id="6146" name="Picture 2" descr="Создать комикс мем &quot;шутка за шуткой кролики, гифка шутка за шуткой, шутка  за шуткой заставка&quot; - Комиксы - Meme-arsenal.com">
            <a:extLst>
              <a:ext uri="{FF2B5EF4-FFF2-40B4-BE49-F238E27FC236}">
                <a16:creationId xmlns:a16="http://schemas.microsoft.com/office/drawing/2014/main" id="{1A98F8B2-0C36-A913-FF3F-1DF2BB966D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08" r="12116"/>
          <a:stretch>
            <a:fillRect/>
          </a:stretch>
        </p:blipFill>
        <p:spPr bwMode="auto">
          <a:xfrm>
            <a:off x="6283515" y="2442961"/>
            <a:ext cx="2403285" cy="1775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Карта инструментов Cursor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6400800" cy="9144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645920" y="14173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Agent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17373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Автономная задача с полным контролем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468880"/>
            <a:ext cx="6400800" cy="914400"/>
          </a:xfrm>
          <a:prstGeom prst="rect">
            <a:avLst/>
          </a:prstGeom>
          <a:solidFill>
            <a:srgbClr val="00A89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45920" y="26060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926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Сложные изменения + </a:t>
            </a:r>
            <a:r>
              <a:rPr lang="en-US" sz="1400" dirty="0" err="1">
                <a:solidFill>
                  <a:srgbClr val="FFFFFF"/>
                </a:solidFill>
              </a:rPr>
              <a:t>проверка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  <a:r>
              <a:rPr lang="en-US" sz="1400" dirty="0" err="1">
                <a:solidFill>
                  <a:srgbClr val="FFFFFF"/>
                </a:solidFill>
              </a:rPr>
              <a:t>плана</a:t>
            </a:r>
            <a:r>
              <a:rPr lang="ru-RU" sz="1400" dirty="0">
                <a:solidFill>
                  <a:srgbClr val="FFFFFF"/>
                </a:solidFill>
              </a:rPr>
              <a:t> – это ваш лучший друг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45920" y="3794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41148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Обсуждения, идеи, вопросы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Контекст в Cursor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234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E50"/>
                </a:solidFill>
              </a:rPr>
              <a:t>Файлы, выделение, поиск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0080" y="21031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Контекст должен быть минимально достаточным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Явно указывать файлы и область изменения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Убирать лишнее из контекста </a:t>
            </a:r>
            <a:r>
              <a:rPr lang="en-US" sz="1500" dirty="0" err="1">
                <a:solidFill>
                  <a:srgbClr val="2C3E50"/>
                </a:solidFill>
              </a:rPr>
              <a:t>перед</a:t>
            </a:r>
            <a:r>
              <a:rPr lang="en-US" sz="1500" dirty="0">
                <a:solidFill>
                  <a:srgbClr val="2C3E50"/>
                </a:solidFill>
              </a:rPr>
              <a:t> </a:t>
            </a:r>
            <a:r>
              <a:rPr lang="en-US" sz="1500" dirty="0" err="1">
                <a:solidFill>
                  <a:srgbClr val="2C3E50"/>
                </a:solidFill>
              </a:rPr>
              <a:t>запуском</a:t>
            </a:r>
            <a:endParaRPr lang="ru-RU" sz="1500" dirty="0">
              <a:solidFill>
                <a:srgbClr val="2C3E50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ru-RU" sz="1500" dirty="0">
                <a:solidFill>
                  <a:srgbClr val="2C3E50"/>
                </a:solidFill>
              </a:rPr>
              <a:t>Если модель начинает искать файлы – вы ошиблись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371600" y="3474720"/>
            <a:ext cx="64008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4"/>
          <p:cNvSpPr/>
          <p:nvPr/>
        </p:nvSpPr>
        <p:spPr>
          <a:xfrm>
            <a:off x="1828800" y="36118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src/auth/login.py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tests/test_auth.py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43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node_modules/</a:t>
            </a:r>
            <a:endParaRPr lang="en-US" sz="1400" dirty="0"/>
          </a:p>
        </p:txBody>
      </p:sp>
      <p:pic>
        <p:nvPicPr>
          <p:cNvPr id="7170" name="Picture 2" descr="Почему Джейсон Стейтем стал мемом?">
            <a:extLst>
              <a:ext uri="{FF2B5EF4-FFF2-40B4-BE49-F238E27FC236}">
                <a16:creationId xmlns:a16="http://schemas.microsoft.com/office/drawing/2014/main" id="{1D5FFCBC-C707-8C5C-892B-1F30EBC89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292" y="1028700"/>
            <a:ext cx="2939415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Стратегии обновления файлов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54864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828800"/>
            <a:ext cx="3474720" cy="256032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14400" y="1920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</a:rPr>
              <a:t>Полный файл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97280" y="256032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Дороже на больших файлах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Может потерять изменения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Использовать для новых файлов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828800"/>
            <a:ext cx="3474720" cy="2560320"/>
          </a:xfrm>
          <a:prstGeom prst="rect">
            <a:avLst/>
          </a:prstGeom>
          <a:solidFill>
            <a:srgbClr val="028090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54880" y="1920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Патчи (diff)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4937760" y="256032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Дешевле и быстрее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Точные правки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Оптимальны для редактирования</a:t>
            </a:r>
            <a:endParaRPr lang="en-US" sz="1300" dirty="0"/>
          </a:p>
        </p:txBody>
      </p:sp>
      <p:pic>
        <p:nvPicPr>
          <p:cNvPr id="8194" name="Picture 2" descr="подорожник лист - Создать мем - Meme-arsenal.com">
            <a:extLst>
              <a:ext uri="{FF2B5EF4-FFF2-40B4-BE49-F238E27FC236}">
                <a16:creationId xmlns:a16="http://schemas.microsoft.com/office/drawing/2014/main" id="{B17DF005-9911-49C7-78D8-8BB23C1C7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283" b="89961" l="258" r="91753">
                        <a14:foregroundMark x1="46134" y1="9055" x2="99227" y2="25197"/>
                        <a14:foregroundMark x1="99227" y1="25197" x2="94588" y2="66339"/>
                        <a14:foregroundMark x1="94588" y1="66339" x2="47423" y2="98031"/>
                        <a14:foregroundMark x1="47423" y1="98031" x2="515" y2="73228"/>
                        <a14:foregroundMark x1="515" y1="73228" x2="23454" y2="30512"/>
                        <a14:foregroundMark x1="23454" y1="30512" x2="46907" y2="10827"/>
                        <a14:foregroundMark x1="52320" y1="7480" x2="55155" y2="7480"/>
                        <a14:foregroundMark x1="73969" y1="50787" x2="91753" y2="11811"/>
                        <a14:foregroundMark x1="91753" y1="11811" x2="56701" y2="19488"/>
                        <a14:foregroundMark x1="68814" y1="45079" x2="66495" y2="53150"/>
                        <a14:backgroundMark x1="29897" y1="20472" x2="30412" y2="19882"/>
                        <a14:backgroundMark x1="89691" y1="2165" x2="91237" y2="1772"/>
                        <a14:backgroundMark x1="97165" y1="73819" x2="97165" y2="7027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376" y="3705437"/>
            <a:ext cx="904687" cy="118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Выбор модели под задачу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640080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1371600"/>
            <a:ext cx="32004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Быстрые модели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Умные модели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0"/>
            <a:ext cx="457200" cy="45720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004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37744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</a:rPr>
              <a:t>Быстрые модели: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Черновики, простой код, рефакторинг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</a:rPr>
              <a:t>Сложные модели: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Архитектура, алгоритмы, отладка багов</a:t>
            </a:r>
            <a:endParaRPr lang="en-US" sz="15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45EC5285-DC79-DFDA-C752-858C4E885CE1}"/>
              </a:ext>
            </a:extLst>
          </p:cNvPr>
          <p:cNvSpPr/>
          <p:nvPr/>
        </p:nvSpPr>
        <p:spPr>
          <a:xfrm>
            <a:off x="1371599" y="3749040"/>
            <a:ext cx="6905413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ru-RU" sz="1300" dirty="0">
                <a:solidFill>
                  <a:srgbClr val="2C3E50"/>
                </a:solidFill>
              </a:rPr>
              <a:t>Модель выбираем под задачу. Представьте себя тимлидом. Кому вы поручите эту задачу?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ru-RU" sz="1300" dirty="0">
                <a:solidFill>
                  <a:srgbClr val="2C3E50"/>
                </a:solidFill>
              </a:rPr>
              <a:t>НИКОГДА не меняйте модель во время диалога. Это очень дорого. Весь контекст будет перезагружен в новую модель</a:t>
            </a:r>
          </a:p>
        </p:txBody>
      </p:sp>
      <p:pic>
        <p:nvPicPr>
          <p:cNvPr id="9220" name="Picture 4" descr="Никогда - Memchik.ru">
            <a:extLst>
              <a:ext uri="{FF2B5EF4-FFF2-40B4-BE49-F238E27FC236}">
                <a16:creationId xmlns:a16="http://schemas.microsoft.com/office/drawing/2014/main" id="{12A3360A-8313-C462-0916-F9AA5090A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547" y="2172653"/>
            <a:ext cx="2138666" cy="1576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Хороший запрос = хороший результат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234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E50"/>
                </a:solidFill>
              </a:rPr>
              <a:t>Структура промпта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371600" y="2103120"/>
            <a:ext cx="6400800" cy="64008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554480" y="21945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2">
                    <a:lumMod val="25000"/>
                  </a:schemeClr>
                </a:solidFill>
              </a:rPr>
              <a:t>1. Цель: </a:t>
            </a:r>
            <a:r>
              <a:rPr lang="en-US" sz="1500" dirty="0">
                <a:solidFill>
                  <a:srgbClr val="2C3E50"/>
                </a:solidFill>
              </a:rPr>
              <a:t>Что нужно сделать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371600" y="2926080"/>
            <a:ext cx="6400800" cy="640080"/>
          </a:xfrm>
          <a:prstGeom prst="rect">
            <a:avLst/>
          </a:prstGeom>
          <a:solidFill>
            <a:srgbClr val="00A896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554480" y="30175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2">
                    <a:lumMod val="25000"/>
                  </a:schemeClr>
                </a:solidFill>
              </a:rPr>
              <a:t>2. Ограничения: </a:t>
            </a:r>
            <a:r>
              <a:rPr lang="en-US" sz="1500" dirty="0">
                <a:solidFill>
                  <a:srgbClr val="2C3E50"/>
                </a:solidFill>
              </a:rPr>
              <a:t>Какие файлы, какой объем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371600" y="3749040"/>
            <a:ext cx="6400800" cy="64008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554480" y="38404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2">
                    <a:lumMod val="25000"/>
                  </a:schemeClr>
                </a:solidFill>
              </a:rPr>
              <a:t>3. Критерии: </a:t>
            </a:r>
            <a:r>
              <a:rPr lang="en-US" sz="1500" dirty="0">
                <a:solidFill>
                  <a:srgbClr val="2C3E50"/>
                </a:solidFill>
              </a:rPr>
              <a:t>Как проверить результат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45FEEDB7-7011-F04E-A3E5-F8C07503F415}"/>
              </a:ext>
            </a:extLst>
          </p:cNvPr>
          <p:cNvGrpSpPr/>
          <p:nvPr/>
        </p:nvGrpSpPr>
        <p:grpSpPr>
          <a:xfrm>
            <a:off x="948267" y="1532116"/>
            <a:ext cx="7464213" cy="1827807"/>
            <a:chOff x="1737361" y="3094216"/>
            <a:chExt cx="7464213" cy="1827807"/>
          </a:xfrm>
        </p:grpSpPr>
        <p:pic>
          <p:nvPicPr>
            <p:cNvPr id="11266" name="Picture 2" descr="график - Создать мем - Meme-arsenal.com">
              <a:extLst>
                <a:ext uri="{FF2B5EF4-FFF2-40B4-BE49-F238E27FC236}">
                  <a16:creationId xmlns:a16="http://schemas.microsoft.com/office/drawing/2014/main" id="{F95C3E18-F1E7-F173-2B44-22B9A0D4CD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7361" y="3094216"/>
              <a:ext cx="7464213" cy="18278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график - Создать мем - Meme-arsenal.com">
              <a:extLst>
                <a:ext uri="{FF2B5EF4-FFF2-40B4-BE49-F238E27FC236}">
                  <a16:creationId xmlns:a16="http://schemas.microsoft.com/office/drawing/2014/main" id="{60242B8F-7079-B114-A453-55A1E9FC94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241" t="39966" r="11796" b="15750"/>
            <a:stretch>
              <a:fillRect/>
            </a:stretch>
          </p:blipFill>
          <p:spPr bwMode="auto">
            <a:xfrm flipH="1">
              <a:off x="2499360" y="3908213"/>
              <a:ext cx="1490133" cy="8094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Потеря внимания в середине промпта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2849516540"/>
              </p:ext>
            </p:extLst>
          </p:nvPr>
        </p:nvGraphicFramePr>
        <p:xfrm>
          <a:off x="640080" y="1188720"/>
          <a:ext cx="7772400" cy="2326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4069080"/>
            <a:ext cx="45720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8453" y="374904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Критичное — в начале и в конце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Середина чаще игнорируется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Длинные правила на 800 строк — дорого и неэффективно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Правильный промптинг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320040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1188720"/>
            <a:ext cx="64008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188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НАЧАЛО: Цель и контекст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8288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Создай REST API для управления пользователями.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Используй FastAPI, PostgreSQL, async/await.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2560320"/>
            <a:ext cx="5486400" cy="457200"/>
          </a:xfrm>
          <a:prstGeom prst="rect">
            <a:avLst/>
          </a:prstGeom>
          <a:solidFill>
            <a:srgbClr val="64748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СЕРЕДИНА: Держать короткой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3162300"/>
            <a:ext cx="640080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1623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КОНЕЦ: Критерии и ограничения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380238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Добавь валидацию email. Тесты обязательны.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Максимум 200 строк на файл.</a:t>
            </a:r>
            <a:endParaRPr lang="en-US" sz="13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9D328BA-5A76-61CF-028D-7054E4FCA216}"/>
              </a:ext>
            </a:extLst>
          </p:cNvPr>
          <p:cNvSpPr/>
          <p:nvPr/>
        </p:nvSpPr>
        <p:spPr>
          <a:xfrm>
            <a:off x="1371599" y="4455160"/>
            <a:ext cx="632290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dirty="0"/>
              <a:t>Важные уточнения, </a:t>
            </a:r>
            <a:r>
              <a:rPr lang="en-US" sz="1300" dirty="0"/>
              <a:t>corner </a:t>
            </a:r>
            <a:r>
              <a:rPr lang="ru-RU" sz="1300" dirty="0"/>
              <a:t>кейсы, пожелания и идеи лучше складировать в </a:t>
            </a:r>
            <a:r>
              <a:rPr lang="en-US" sz="1300" dirty="0"/>
              <a:t>.md </a:t>
            </a:r>
            <a:r>
              <a:rPr lang="ru-RU" sz="1300" dirty="0"/>
              <a:t>файлах. И грузить их как контекст. Такие файлы не должны быть более 300-400 строк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Демо: плохой запрос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0" y="1188720"/>
            <a:ext cx="6858000" cy="137160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5" name="Text 2"/>
          <p:cNvSpPr/>
          <p:nvPr/>
        </p:nvSpPr>
        <p:spPr>
          <a:xfrm>
            <a:off x="1554480" y="137160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 err="1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Сделай</a:t>
            </a:r>
            <a:r>
              <a:rPr lang="en-US" sz="18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 err="1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авторизацию</a:t>
            </a:r>
            <a:r>
              <a:rPr lang="ru-RU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хорошо, а не хорошо не делай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2834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Почему плохо: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Общая формулировка → общий ответ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Нет критериев и контекста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Модель додумает сама (скорее всего, неправильно)</a:t>
            </a:r>
            <a:endParaRPr lang="en-US" sz="1500" dirty="0"/>
          </a:p>
        </p:txBody>
      </p:sp>
      <p:pic>
        <p:nvPicPr>
          <p:cNvPr id="12290" name="Picture 2" descr="Picture background">
            <a:extLst>
              <a:ext uri="{FF2B5EF4-FFF2-40B4-BE49-F238E27FC236}">
                <a16:creationId xmlns:a16="http://schemas.microsoft.com/office/drawing/2014/main" id="{FEC85621-CBA6-C32E-3A80-03EB46043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1147" y="2820430"/>
            <a:ext cx="3745653" cy="1857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Демо: улучшенный запрос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0" y="1188720"/>
            <a:ext cx="6858000" cy="18288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" name="Text 2"/>
          <p:cNvSpPr/>
          <p:nvPr/>
        </p:nvSpPr>
        <p:spPr>
          <a:xfrm>
            <a:off x="1554480" y="1325880"/>
            <a:ext cx="6492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Создай JWT-авторизацию для FastAPI: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access/refresh токены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хранение в httpOnly cookies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ручки login/logout/refresh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Добавь unit-тесты. Макс. 150 строк.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3291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</a:rPr>
              <a:t>Что улучшилось: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36576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Добавили конкретный контекст (FastAPI, JWT)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Указали ограничения (размер, тесты)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</a:rPr>
              <a:t>Задали критерии результата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Паттерны работы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1325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50"/>
                </a:solidFill>
              </a:rPr>
              <a:t>Полный цикл работы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046480" y="3486191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1046480" y="3486191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06213" y="4171991"/>
            <a:ext cx="142917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</a:rPr>
              <a:t>Планирование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2160" y="4492031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Декомпозиция задачи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778000" y="3760511"/>
            <a:ext cx="1371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332480" y="3486191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8"/>
          <p:cNvSpPr/>
          <p:nvPr/>
        </p:nvSpPr>
        <p:spPr>
          <a:xfrm>
            <a:off x="3332480" y="3486191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058160" y="417199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</a:rPr>
              <a:t>Реализация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058160" y="4492031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Генерация кода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064000" y="3760511"/>
            <a:ext cx="1371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5618480" y="3486191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5618480" y="3486191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5344160" y="417199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</a:rPr>
              <a:t>Контроль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344160" y="4492031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Проверка и ревью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2160" y="1720235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Декомпозиция задач на подзадачи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Итерации и ревью после каждого этапа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Когда останавливаться? Когда критерии выполнены</a:t>
            </a:r>
            <a:endParaRPr lang="en-US" sz="1400" dirty="0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A253CDE8-61CE-7FF5-2901-3FBAA76AE0C9}"/>
              </a:ext>
            </a:extLst>
          </p:cNvPr>
          <p:cNvSpPr/>
          <p:nvPr/>
        </p:nvSpPr>
        <p:spPr>
          <a:xfrm>
            <a:off x="7752079" y="3486191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E1FEDEB7-4B21-BAE3-D622-6FFBBF1AC5A9}"/>
              </a:ext>
            </a:extLst>
          </p:cNvPr>
          <p:cNvSpPr/>
          <p:nvPr/>
        </p:nvSpPr>
        <p:spPr>
          <a:xfrm>
            <a:off x="6282266" y="3760511"/>
            <a:ext cx="1371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6FDC51FD-CD77-8024-687F-8F0D55EC6D0B}"/>
              </a:ext>
            </a:extLst>
          </p:cNvPr>
          <p:cNvSpPr/>
          <p:nvPr/>
        </p:nvSpPr>
        <p:spPr>
          <a:xfrm>
            <a:off x="7752079" y="3486191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2FB6E64D-FD46-E4A0-0FC3-797CD92B0342}"/>
              </a:ext>
            </a:extLst>
          </p:cNvPr>
          <p:cNvSpPr/>
          <p:nvPr/>
        </p:nvSpPr>
        <p:spPr>
          <a:xfrm>
            <a:off x="7477759" y="417199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400" b="1" dirty="0">
                <a:solidFill>
                  <a:srgbClr val="2C3E50"/>
                </a:solidFill>
              </a:rPr>
              <a:t>Повторить</a:t>
            </a:r>
            <a:endParaRPr lang="en-US" sz="1400" dirty="0"/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6F72E9FC-8D31-2F5C-BE55-24D9F028F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5619" y="293414"/>
            <a:ext cx="2599161" cy="3055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Ошибки при работе с агентами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234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Смешивание нескольких задач в одном запросе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2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19202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Слишком много контекста (весь проект)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88720" y="26060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Отсутствие критериев успеха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46120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88720" y="32918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Ожидание идеального кода с первого раза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365760" cy="3657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88720" y="3977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Принятие изменений без проверки</a:t>
            </a:r>
            <a:endParaRPr lang="en-US" sz="1400" dirty="0"/>
          </a:p>
        </p:txBody>
      </p:sp>
      <p:sp>
        <p:nvSpPr>
          <p:cNvPr id="14" name="AutoShape 4">
            <a:extLst>
              <a:ext uri="{FF2B5EF4-FFF2-40B4-BE49-F238E27FC236}">
                <a16:creationId xmlns:a16="http://schemas.microsoft.com/office/drawing/2014/main" id="{F6D147AC-C5E8-3A9C-3D1C-56183B4BFD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444240" cy="3444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" name="Рисунок 15" descr="Изображение выглядит как млекопитающее, домашняя кошка, Мелкие и средние кошки, Вибриссы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3709B5B-D7E4-A6C4-F508-5D3EA307DB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942" y="1402080"/>
            <a:ext cx="3226646" cy="322664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Лучшие практики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234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Короткие итерации с четкими целями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2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19202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Минимальный достаточный контекст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88720" y="26060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Проверка результата перед принятием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46120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88720" y="32918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Использование подходящей модели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365760" cy="3657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88720" y="3977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Сохранение важных промптов как шаблонов</a:t>
            </a:r>
            <a:endParaRPr lang="en-US" sz="1400" dirty="0"/>
          </a:p>
        </p:txBody>
      </p:sp>
      <p:pic>
        <p:nvPicPr>
          <p:cNvPr id="14" name="Рисунок 13" descr="Изображение выглядит как Человеческое лицо, текст, графическая вставка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28521C0-453E-F607-F3DE-8533F2BBB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1877" y="1234440"/>
            <a:ext cx="3723775" cy="31623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Как экономить токены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54864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828800"/>
            <a:ext cx="3474720" cy="228600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2828"/>
                </a:solidFill>
              </a:rPr>
              <a:t>ДО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" y="24688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Длинный диалог (50 msg)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Весь проект в контексте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Без summarize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</a:rPr>
              <a:t>Стоимость: ~500₽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828800"/>
            <a:ext cx="3474720" cy="22860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</a:rPr>
              <a:t>ПОСЛЕ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37760" y="24688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Новый чат для задачи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Только нужные файлы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Summarize истории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</a:rPr>
              <a:t>Стоимость: ~50₽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</a:rPr>
              <a:t>Что можно внедрить уже завтра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54864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0" y="2011680"/>
            <a:ext cx="6400800" cy="73152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554480" y="2121408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Шаблон запроса в команде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554480" y="2395728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Цель → Контекст → Ограничения → Критерии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solidFill>
            <a:srgbClr val="00A896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54480" y="3035808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Чек-лист перед запуском агента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54480" y="3310128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Минимальный контекст? План есть? Критерии ясны?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371600" y="3840480"/>
            <a:ext cx="6400800" cy="73152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554480" y="3950208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Режим ревью по умолчанию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554480" y="4224528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Проверять код перед принятием изменений</a:t>
            </a:r>
            <a:endParaRPr lang="en-US" sz="1200" dirty="0"/>
          </a:p>
        </p:txBody>
      </p:sp>
      <p:pic>
        <p:nvPicPr>
          <p:cNvPr id="15" name="Рисунок 14" descr="Изображение выглядит как текст, мультфильм, снимок экрана, млекопитающе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CE98938-E912-4D5E-A959-CB07EA81C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968" y="1645920"/>
            <a:ext cx="2191985" cy="31318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Итоги и Q&amp;A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645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46888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Быстрее, качественнее, дешевле — при правильной работе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Инструмент важен, но важнее навык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Начните с малого: шаблоны, чек-листы, короткие итерации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02C39A"/>
                </a:solidFill>
              </a:rPr>
              <a:t>Вопросы?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1211</Words>
  <Application>Microsoft Office PowerPoint</Application>
  <PresentationFormat>Экран (16:9)</PresentationFormat>
  <Paragraphs>339</Paragraphs>
  <Slides>24</Slides>
  <Notes>24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8" baseType="lpstr">
      <vt:lpstr>Aptos Narrow</vt:lpstr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+ Cursor для разработчиков</dc:title>
  <dc:subject>PptxGenJS Presentation</dc:subject>
  <dc:creator>Workshop AI + Cursor</dc:creator>
  <cp:lastModifiedBy>Айрапетов Эрнест Суренович</cp:lastModifiedBy>
  <cp:revision>14</cp:revision>
  <dcterms:created xsi:type="dcterms:W3CDTF">2026-02-09T12:52:10Z</dcterms:created>
  <dcterms:modified xsi:type="dcterms:W3CDTF">2026-02-09T14:52:32Z</dcterms:modified>
</cp:coreProperties>
</file>